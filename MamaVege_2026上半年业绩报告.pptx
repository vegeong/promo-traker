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C2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63C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5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5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5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9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6E3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4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-105183</c:v>
                </c:pt>
                <c:pt idx="1">
                  <c:v>-263583</c:v>
                </c:pt>
                <c:pt idx="2">
                  <c:v>-54134</c:v>
                </c:pt>
                <c:pt idx="3">
                  <c:v>-142</c:v>
                </c:pt>
                <c:pt idx="4">
                  <c:v>128749</c:v>
                </c:pt>
                <c:pt idx="5">
                  <c:v>-156591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463C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E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E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马来西亚线下</c:v>
                </c:pt>
              </c:strCache>
            </c:strRef>
          </c:tx>
          <c:spPr>
            <a:solidFill>
              <a:srgbClr val="2C6E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363652</c:v>
                </c:pt>
                <c:pt idx="1">
                  <c:v>331699</c:v>
                </c:pt>
                <c:pt idx="2">
                  <c:v>364496</c:v>
                </c:pt>
                <c:pt idx="3">
                  <c:v>353928</c:v>
                </c:pt>
                <c:pt idx="4">
                  <c:v>453608</c:v>
                </c:pt>
                <c:pt idx="5">
                  <c:v>295770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线上电商</c:v>
                </c:pt>
              </c:strCache>
            </c:strRef>
          </c:tx>
          <c:spPr>
            <a:solidFill>
              <a:srgbClr val="8FBF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120068</c:v>
                </c:pt>
                <c:pt idx="1">
                  <c:v>156992</c:v>
                </c:pt>
                <c:pt idx="2">
                  <c:v>176840</c:v>
                </c:pt>
                <c:pt idx="3">
                  <c:v>77078</c:v>
                </c:pt>
                <c:pt idx="4">
                  <c:v>94569</c:v>
                </c:pt>
                <c:pt idx="5">
                  <c:v>115868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国际业务</c:v>
                </c:pt>
              </c:strCache>
            </c:strRef>
          </c:tx>
          <c:spPr>
            <a:solidFill>
              <a:srgbClr val="E0A9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1558</c:v>
                </c:pt>
                <c:pt idx="3">
                  <c:v>77082</c:v>
                </c:pt>
                <c:pt idx="4">
                  <c:v>11157</c:v>
                </c:pt>
                <c:pt idx="5">
                  <c:v>11971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E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E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4C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777240"/>
            <a:ext cx="822960" cy="822960"/>
          </a:xfrm>
          <a:prstGeom prst="ellipse">
            <a:avLst/>
          </a:prstGeom>
          <a:solidFill>
            <a:srgbClr val="2A52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9829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妈子素 MamaVege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上半年业绩报告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C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诚实面对数字 · 把 5 月变成每一个月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7 月 · 全员大会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先说最重要的：这个模式，已经跑通了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月净利润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505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+128,749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3090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上半年第一个盈利月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14300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4173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544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月毛利率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4505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51.9%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20440" y="3090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 39.9%，5 月证明能做到更高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14300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14173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月净利润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4505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9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-142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355080" y="3090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几乎打平 —— 转折从 4 月开始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月不是运气。</a:t>
            </a:r>
            <a:pPr indent="0" marL="0">
              <a:buNone/>
            </a:pPr>
            <a:r>
              <a:rPr lang="en-US" sz="15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是销量、毛利、费用三件事同时做对的结果 —— 这三件事，我们都会重复。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也要坦白：上半年整体，还是亏的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总销售额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2,808,614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净亏损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87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-450,884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平均每卖 RM 100，就亏 RM 16。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问题不在卖不动，在怎么卖、花多少。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各月净利润（RM）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840480" y="141732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84048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离盈利最近的两个月：4 月与 5 月 —— 这就是方向。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钱从哪里来：三大业务板块（1-6 月）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马来西亚线下（MT + GT）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2,163,152  </a:t>
            </a:r>
            <a:pPr indent="0" marL="0">
              <a:buNone/>
            </a:pPr>
            <a:r>
              <a:rPr lang="en-US" sz="10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 72% —— 基本盘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50008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59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线上电商（Shopee / TikTok / Lazada / 自建）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7797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F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741,416  </a:t>
            </a:r>
            <a:pPr indent="0" marL="0">
              <a:buNone/>
            </a:pPr>
            <a:r>
              <a:rPr lang="en-US" sz="10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 25% —— 第二增长引擎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557016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666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国际业务（IB）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986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101,768  </a:t>
            </a:r>
            <a:pPr indent="0" marL="0">
              <a:buNone/>
            </a:pPr>
            <a:r>
              <a:rPr lang="en-US" sz="10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 3% —— 4 月刚起步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各板块月度销售（RM）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54880" y="141732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口径说明：以上为渠道运营数据（线下按 PO、线上按平台成交、国际按 IB 订单），与财务报表口径存在差异。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450,884 亏在哪里？三个原因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1790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2984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营业费用过高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65960" y="16459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月均费用约 RM 261,000，月均毛利只有约 RM 187,000 —— 毛利养不起费用，先天就亏。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2468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营销花费没对准回报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965960" y="2816352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投放分散、凭感觉加码，花出去的钱没有算清楚带回多少销售 —— 钱花了，销量没跟上。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529584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858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8587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6393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库存压住太多现金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65960" y="398678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RM 1,065,000 的货躺在仓库，132 天才转一圈 —— 现金被冻结，公司越转越紧。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三个原因，H2 一个一个拆掉。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原因一：费用是能降的 —— 5 月已经证明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上半年月均营业费用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261,000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超过月均毛利，做多少亏多少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月实际营业费用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204,000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30352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同样的团队、同样的生意，照样运转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费用最低的 5 月，恰好是利润最高的月份 —— 这不是巧合。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每月省下约 RM 57,000，一年就是接近 RM 700,000 的利润空间。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原因二：营销的钱，要花在看得见回报的地方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上半年的问题：投放分散、凭感觉加码，没有用回报来决定花多少。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6E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小额测试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每个渠道、每档活动，先用小预算试跑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35808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920240"/>
            <a:ext cx="502920" cy="502920"/>
          </a:xfrm>
          <a:prstGeom prst="ellipse">
            <a:avLst/>
          </a:prstGeom>
          <a:solidFill>
            <a:srgbClr val="2C6E3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看回报数据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算清楚：这笔钱带回多少销售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6168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2C6E3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有效才加码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回报达标就放大，不达标立刻停掉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只有一条营销纪律：</a:t>
            </a:r>
            <a:pPr indent="0" marL="0">
              <a:buNone/>
            </a:pPr>
            <a:r>
              <a:rPr lang="en-US" sz="15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每一笔投放，都必须回答 “带回了多少销售”。回答不了，就不花。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原因三：货压在仓库里，现金就不能动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749040" cy="1371600"/>
          </a:xfrm>
          <a:prstGeom prst="roundRect">
            <a:avLst>
              <a:gd name="adj" fmla="val 6000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目前库存金额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087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1,065,000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754880" y="1234440"/>
            <a:ext cx="3749040" cy="1371600"/>
          </a:xfrm>
          <a:prstGeom prst="roundRect">
            <a:avLst>
              <a:gd name="adj" fmla="val 6000"/>
            </a:avLst>
          </a:prstGeom>
          <a:solidFill>
            <a:srgbClr val="FBEFE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库存周转天数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23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 天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 天 </a:t>
            </a:r>
            <a:pPr algn="ctr"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压到 </a:t>
            </a:r>
            <a:pPr algn="ctr" indent="0" marL="0">
              <a:buNone/>
            </a:pPr>
            <a:r>
              <a:rPr lang="en-US" sz="22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</a:t>
            </a:r>
            <a:pPr algn="ctr"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＝  释放现金约 </a:t>
            </a:r>
            <a:pPr algn="ctr" indent="0" marL="0">
              <a:buNone/>
            </a:pPr>
            <a:r>
              <a:rPr lang="en-US" sz="22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360,000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库存不是资产，卖出去才是。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原则：先卖完现有的货，再谈进新货；滞销品该促销就促销、该止损就止损。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下半年，全公司只盯三个数字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2749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月销售额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RM 550,000</a:t>
            </a:r>
            <a:endParaRPr lang="en-US" sz="2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004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月做到过 RM 641,493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91840" y="12344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27492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53619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47872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月营业费用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47872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RM 220,000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20040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58768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月做到过 RM 204,000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126480" y="12344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27492E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536192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82512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库存天数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382512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90 天</a:t>
            </a:r>
            <a:endParaRPr lang="en-US" sz="2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00400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93408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释放现金约 RM 360,000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9DC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三个数字，5 月都摸到过 —— 我们不是在赌，是在重复已经做到的事。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三个数字达标，会发生什么？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84048" y="14173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5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93776" y="15727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月销售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550,000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737360" y="16002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5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58568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 · 5月水平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58568" y="1901952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51%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67912" y="16002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79392" y="14173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5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5727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月费用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220,000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32704" y="16002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53912" y="15727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每月净赚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53912" y="190195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RM 63,000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每月约 RM 63,000 × 6 个月 ≈ </a:t>
            </a:r>
            <a:pPr algn="ctr" indent="0" marL="0">
              <a:buNone/>
            </a:pPr>
            <a:r>
              <a:rPr lang="en-US" sz="17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赚回约 RM 380,000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463040" y="3474720"/>
            <a:ext cx="6217920" cy="960120"/>
          </a:xfrm>
          <a:prstGeom prst="roundRect">
            <a:avLst>
              <a:gd name="adj" fmla="val 8571"/>
            </a:avLst>
          </a:prstGeom>
          <a:solidFill>
            <a:srgbClr val="F1F7E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4747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 -45 万  +  下半年 +38 万  ≈  </a:t>
            </a:r>
            <a:pPr algn="ctr" indent="0" marL="0">
              <a:buNone/>
            </a:pPr>
            <a:r>
              <a:rPr lang="en-US" sz="1900" b="1" dirty="0">
                <a:solidFill>
                  <a:srgbClr val="2C6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全年基本打平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不靠奇迹，不靠翻倍 —— 只要把 5 月重复六次。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5 月变成每一个月：每个团队的任务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75488" cy="475488"/>
          </a:xfrm>
          <a:prstGeom prst="ellipse">
            <a:avLst/>
          </a:prstGeom>
          <a:solidFill>
            <a:srgbClr val="F1F7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7899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销售团队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80360" y="107899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RM 550,000，主推高毛利产品，盯紧每一家门店与渠道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234440" y="1755648"/>
            <a:ext cx="7406640" cy="0"/>
          </a:xfrm>
          <a:prstGeom prst="line">
            <a:avLst/>
          </a:prstGeom>
          <a:noFill/>
          <a:ln w="9525">
            <a:solidFill>
              <a:srgbClr val="E4EA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892808"/>
            <a:ext cx="475488" cy="475488"/>
          </a:xfrm>
          <a:prstGeom prst="ellipse">
            <a:avLst/>
          </a:prstGeom>
          <a:solidFill>
            <a:srgbClr val="F1F7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1168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82880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80360" y="182880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每笔投放先小额测试、算回报 —— 对不上回报的，立刻停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234440" y="2505456"/>
            <a:ext cx="7406640" cy="0"/>
          </a:xfrm>
          <a:prstGeom prst="line">
            <a:avLst/>
          </a:prstGeom>
          <a:noFill/>
          <a:ln w="9525">
            <a:solidFill>
              <a:srgbClr val="E4EA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2642616"/>
            <a:ext cx="475488" cy="475488"/>
          </a:xfrm>
          <a:prstGeom prst="ellipse">
            <a:avLst/>
          </a:prstGeom>
          <a:solidFill>
            <a:srgbClr val="F1F7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7614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57860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运营与采购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880360" y="257860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库存天数压到 90 天：先卖完现有库存，再谈进货和新品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234440" y="3255264"/>
            <a:ext cx="7406640" cy="0"/>
          </a:xfrm>
          <a:prstGeom prst="line">
            <a:avLst/>
          </a:prstGeom>
          <a:noFill/>
          <a:ln w="9525">
            <a:solidFill>
              <a:srgbClr val="E4EAE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3392424"/>
            <a:ext cx="475488" cy="475488"/>
          </a:xfrm>
          <a:prstGeom prst="ellipse">
            <a:avLst/>
          </a:prstGeom>
          <a:solidFill>
            <a:srgbClr val="F1F7E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51129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32841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2880360" y="332841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守住每月 RM 220,000 费用红线，三个数字每月向全员公开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1234440" y="4005072"/>
            <a:ext cx="7406640" cy="0"/>
          </a:xfrm>
          <a:prstGeom prst="line">
            <a:avLst/>
          </a:prstGeom>
          <a:noFill/>
          <a:ln w="9525">
            <a:solidFill>
              <a:srgbClr val="E4EAE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8640" y="4142232"/>
            <a:ext cx="475488" cy="475488"/>
          </a:xfrm>
          <a:prstGeom prst="ellipse">
            <a:avLst/>
          </a:prstGeom>
          <a:solidFill>
            <a:srgbClr val="F1F7E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26110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34440" y="4078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每一个人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2880360" y="407822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花每一块钱之前先问：这能帮我们多卖多少？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515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月已经证明：我们能赢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下半年的任务只有一个 —— 把那一个月，变成每一个月。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 · 2026 H2，一起把钱赚回来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MamaVege 2026 上半年业绩报告</dc:title>
  <dc:subject>PptxGenJS Presentation</dc:subject>
  <dc:creator>MamaVege CEO Office</dc:creator>
  <cp:lastModifiedBy>MamaVege CEO Office</cp:lastModifiedBy>
  <cp:revision>1</cp:revision>
  <dcterms:created xsi:type="dcterms:W3CDTF">2026-07-07T05:26:08Z</dcterms:created>
  <dcterms:modified xsi:type="dcterms:W3CDTF">2026-07-07T05:26:08Z</dcterms:modified>
</cp:coreProperties>
</file>